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6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4389120"/>
            <a:ext cx="2926080" cy="2926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0" y="-822960"/>
            <a:ext cx="3200400" cy="3200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502920" cy="2743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0" y="6355080"/>
            <a:ext cx="50292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34640" y="6355080"/>
            <a:ext cx="502920" cy="2743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23360" y="6355080"/>
            <a:ext cx="50292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80" y="6355080"/>
            <a:ext cx="502920" cy="2743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6355080"/>
            <a:ext cx="50292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89520" y="6355080"/>
            <a:ext cx="502920" cy="2743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78240" y="6355080"/>
            <a:ext cx="50292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966960" y="6355080"/>
            <a:ext cx="502920" cy="2743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155680" y="6355080"/>
            <a:ext cx="50292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1394787"/>
            <a:ext cx="64008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India Demographics</a:t>
            </a:r>
            <a:br>
              <a:rPr dirty="0"/>
            </a:br>
            <a:r>
              <a:rPr dirty="0"/>
              <a:t>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041648"/>
            <a:ext cx="20116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" y="4041648"/>
            <a:ext cx="73152" cy="11430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4169663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425696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ptos"/>
              </a:defRPr>
            </a:pPr>
            <a:r>
              <a:rPr dirty="0"/>
              <a:t>10,000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846320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sample persons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07792" y="4041648"/>
            <a:ext cx="20116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07792" y="4041648"/>
            <a:ext cx="73152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90672" y="4169663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t>STATES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0672" y="4425696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2" y="4846320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covered states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02352" y="4041648"/>
            <a:ext cx="21945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102352" y="4041648"/>
            <a:ext cx="73152" cy="11430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85232" y="4169663"/>
            <a:ext cx="1938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t>AVG INCOME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5232" y="4425696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ptos"/>
              </a:defRPr>
            </a:pPr>
            <a:r>
              <a:t>₹5.01L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5232" y="4846320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annual income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3696" y="571500"/>
            <a:ext cx="3749039" cy="4526280"/>
          </a:xfrm>
          <a:prstGeom prst="roundRect">
            <a:avLst/>
          </a:prstGeom>
          <a:solidFill>
            <a:srgbClr val="0B1F3A"/>
          </a:solidFill>
          <a:ln w="1016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0956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Dataset Theme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1874519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rPr dirty="0"/>
              <a:t>•  Demographic profile by age, gender and location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rPr dirty="0"/>
              <a:t>•  State-wise respondent distribution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rPr dirty="0"/>
              <a:t>•  Education and employment breakdown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rPr dirty="0"/>
              <a:t>•  Income patterns across categories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rPr dirty="0"/>
              <a:t>•  Internet, bank and insurance access indicators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647395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ptos"/>
              </a:defRPr>
            </a:pPr>
            <a:r>
              <a:t>Source: powerbi_india_demographics_sample.csv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36576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Executive Summary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19202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BD5E1"/>
                </a:solidFill>
                <a:latin typeface="Aptos"/>
              </a:defRPr>
            </a:pPr>
            <a:r>
              <a:t>India demographics 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Aptos"/>
              </a:defRPr>
            </a:pPr>
            <a:r>
              <a:t>Source: powerbi_india_demographics_sample.csv | Sample analysis for 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20574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73152" cy="100584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088136"/>
            <a:ext cx="1801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t>TOTAL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344168"/>
            <a:ext cx="1801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ptos"/>
              </a:defRPr>
            </a:pPr>
            <a:r>
              <a:t>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64792"/>
            <a:ext cx="1801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complete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960120"/>
            <a:ext cx="20574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97480" y="960120"/>
            <a:ext cx="73152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0360" y="1088136"/>
            <a:ext cx="1801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t>AVG 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344168"/>
            <a:ext cx="1801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ptos"/>
              </a:defRPr>
            </a:pPr>
            <a:r>
              <a:t>49.1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764792"/>
            <a:ext cx="1801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median 49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960120"/>
            <a:ext cx="20574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37760" y="960120"/>
            <a:ext cx="73152" cy="10058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1088136"/>
            <a:ext cx="1801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t>MEDIAN INCOME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344168"/>
            <a:ext cx="1801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ptos"/>
              </a:defRPr>
            </a:pPr>
            <a:r>
              <a:t>₹4.94L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764792"/>
            <a:ext cx="1801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annual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960120"/>
            <a:ext cx="20574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78040" y="960120"/>
            <a:ext cx="73152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60919" y="1088136"/>
            <a:ext cx="1801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t>AVG HOUSEHOLD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1344168"/>
            <a:ext cx="1801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ptos"/>
              </a:defRPr>
            </a:pPr>
            <a:r>
              <a:t>4.49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1764792"/>
            <a:ext cx="1801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members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0" y="960120"/>
            <a:ext cx="22402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18320" y="960120"/>
            <a:ext cx="73152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0" y="1088136"/>
            <a:ext cx="1984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1344168"/>
            <a:ext cx="1984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176479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2240280"/>
            <a:ext cx="534924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088" y="2350008"/>
            <a:ext cx="49469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Aptos"/>
              </a:defRPr>
            </a:pPr>
            <a:r>
              <a:t>State-wise sample coverage</a:t>
            </a:r>
          </a:p>
        </p:txBody>
      </p:sp>
      <p:pic>
        <p:nvPicPr>
          <p:cNvPr id="36" name="Picture 35" descr="stat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651760"/>
            <a:ext cx="4946903" cy="288036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080760" y="2240280"/>
            <a:ext cx="256032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81928" y="2350008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Aptos"/>
              </a:defRPr>
            </a:pPr>
            <a:r>
              <a:t>Gender balance</a:t>
            </a:r>
          </a:p>
        </p:txBody>
      </p:sp>
      <p:pic>
        <p:nvPicPr>
          <p:cNvPr id="39" name="Picture 38" descr="gender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651760"/>
            <a:ext cx="2157984" cy="288036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8823960" y="2240280"/>
            <a:ext cx="283464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25128" y="2350008"/>
            <a:ext cx="2432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Aptos"/>
              </a:defRPr>
            </a:pPr>
            <a:r>
              <a:t>Inclusion overview</a:t>
            </a:r>
          </a:p>
        </p:txBody>
      </p:sp>
      <p:pic>
        <p:nvPicPr>
          <p:cNvPr id="42" name="Picture 41" descr="inclusion_ra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28" y="2651760"/>
            <a:ext cx="2432304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36576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Geographic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19202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BD5E1"/>
                </a:solidFill>
                <a:latin typeface="Aptos"/>
              </a:defRPr>
            </a:pPr>
            <a:r>
              <a:t>State-level sample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Aptos"/>
              </a:defRPr>
            </a:pPr>
            <a:r>
              <a:t>Source: powerbi_india_demographics_sample.csv | Sample analysis for 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576072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115568"/>
            <a:ext cx="53583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Aptos"/>
              </a:defRPr>
            </a:pPr>
            <a:r>
              <a:t>Respondents by State</a:t>
            </a:r>
          </a:p>
        </p:txBody>
      </p:sp>
      <p:pic>
        <p:nvPicPr>
          <p:cNvPr id="11" name="Picture 10" descr="stat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1308"/>
            <a:ext cx="5358383" cy="4526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46520" y="1005840"/>
            <a:ext cx="525780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1115568"/>
            <a:ext cx="48554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Aptos"/>
              </a:defRPr>
            </a:pPr>
            <a:r>
              <a:t>Average Annual Income by State</a:t>
            </a:r>
          </a:p>
        </p:txBody>
      </p:sp>
      <p:pic>
        <p:nvPicPr>
          <p:cNvPr id="14" name="Picture 13" descr="income_by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1295859"/>
            <a:ext cx="4855464" cy="45262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85800" y="5715000"/>
            <a:ext cx="10835640" cy="502920"/>
          </a:xfrm>
          <a:prstGeom prst="roundRect">
            <a:avLst/>
          </a:prstGeom>
          <a:solidFill>
            <a:srgbClr val="ECFEFF"/>
          </a:solidFill>
          <a:ln w="1016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833872"/>
            <a:ext cx="10378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Aptos"/>
              </a:defRPr>
            </a:pPr>
            <a:r>
              <a:t>Insight: Punjab has the highest representation in the sample (1,044 records), while Gujarat shows the highest average annual income at ₹5.10L.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36576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Demographic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19202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BD5E1"/>
                </a:solidFill>
                <a:latin typeface="Aptos"/>
              </a:defRPr>
            </a:pPr>
            <a:r>
              <a:t>Age, gender and 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Aptos"/>
              </a:defRPr>
            </a:pPr>
            <a:r>
              <a:t>Source: powerbi_india_demographics_sample.csv | Sample analysis for 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87552"/>
            <a:ext cx="4937760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097280"/>
            <a:ext cx="4535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Aptos"/>
              </a:defRPr>
            </a:pPr>
            <a:r>
              <a:t>Age group distribution</a:t>
            </a:r>
          </a:p>
        </p:txBody>
      </p:sp>
      <p:pic>
        <p:nvPicPr>
          <p:cNvPr id="11" name="Picture 10" descr="age_group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99032"/>
            <a:ext cx="4535424" cy="2331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50992" y="987552"/>
            <a:ext cx="2743200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59" y="1097280"/>
            <a:ext cx="2340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Aptos"/>
              </a:defRPr>
            </a:pPr>
            <a:r>
              <a:t>Gender split</a:t>
            </a:r>
          </a:p>
        </p:txBody>
      </p:sp>
      <p:pic>
        <p:nvPicPr>
          <p:cNvPr id="14" name="Picture 13" descr="gender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59" y="1399032"/>
            <a:ext cx="2340864" cy="23317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641080" y="987552"/>
            <a:ext cx="2743200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42248" y="1097280"/>
            <a:ext cx="2340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Aptos"/>
              </a:defRPr>
            </a:pPr>
            <a:r>
              <a:t>Urban/rural split</a:t>
            </a:r>
          </a:p>
        </p:txBody>
      </p:sp>
      <p:pic>
        <p:nvPicPr>
          <p:cNvPr id="17" name="Picture 16" descr="urban_rural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2248" y="1399032"/>
            <a:ext cx="2340864" cy="23317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85800" y="4251960"/>
            <a:ext cx="109728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Profile Reading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443984"/>
            <a:ext cx="8183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150">
                <a:solidFill>
                  <a:srgbClr val="334155"/>
                </a:solidFill>
                <a:latin typeface="Aptos"/>
              </a:defRPr>
            </a:pPr>
            <a:r>
              <a:t>•  The average age is 49.1 years, with a median age of 49 years.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150">
                <a:solidFill>
                  <a:srgbClr val="334155"/>
                </a:solidFill>
                <a:latin typeface="Aptos"/>
              </a:defRPr>
            </a:pPr>
            <a:r>
              <a:t>•  Gender distribution is almost balanced: 50.6% male and 49.4% female.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150">
                <a:solidFill>
                  <a:srgbClr val="334155"/>
                </a:solidFill>
                <a:latin typeface="Aptos"/>
              </a:defRPr>
            </a:pPr>
            <a:r>
              <a:t>•  Urban and rural records are also near balanced: 49.5% urban and 50.5% rural.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36576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Education &amp; Income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19202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BD5E1"/>
                </a:solidFill>
                <a:latin typeface="Aptos"/>
              </a:defRPr>
            </a:pPr>
            <a:r>
              <a:t>Qualification mix and earning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Aptos"/>
              </a:defRPr>
            </a:pPr>
            <a:r>
              <a:t>Source: powerbi_india_demographics_sample.csv | Sample analysis for 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87552"/>
            <a:ext cx="539496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097280"/>
            <a:ext cx="4992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Aptos"/>
              </a:defRPr>
            </a:pPr>
            <a:r>
              <a:t>Education distribution</a:t>
            </a:r>
          </a:p>
        </p:txBody>
      </p:sp>
      <p:pic>
        <p:nvPicPr>
          <p:cNvPr id="11" name="Picture 10" descr="education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99032"/>
            <a:ext cx="4992624" cy="4069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26480" y="987552"/>
            <a:ext cx="55778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097280"/>
            <a:ext cx="51755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Aptos"/>
              </a:defRPr>
            </a:pPr>
            <a:r>
              <a:t>Average income by education</a:t>
            </a:r>
          </a:p>
        </p:txBody>
      </p:sp>
      <p:pic>
        <p:nvPicPr>
          <p:cNvPr id="14" name="Picture 13" descr="income_by_edu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399032"/>
            <a:ext cx="5175503" cy="40690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85800" y="5715000"/>
            <a:ext cx="10835640" cy="502920"/>
          </a:xfrm>
          <a:prstGeom prst="roundRect">
            <a:avLst/>
          </a:prstGeom>
          <a:solidFill>
            <a:srgbClr val="F0FDFA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833872"/>
            <a:ext cx="10378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Aptos"/>
              </a:defRPr>
            </a:pPr>
            <a:r>
              <a:t>Insight: Higher Secondary is the largest education category (2,042 records). Average income is fairly close across education groups; Higher Secondary is highest at ₹5.03L.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36576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Employment &amp; Occupation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19202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BD5E1"/>
                </a:solidFill>
                <a:latin typeface="Aptos"/>
              </a:defRPr>
            </a:pPr>
            <a:r>
              <a:t>Workforce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Aptos"/>
              </a:defRPr>
            </a:pPr>
            <a:r>
              <a:t>Source: powerbi_india_demographics_sample.csv | Sample analysis for 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87552"/>
            <a:ext cx="5166360" cy="4645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097280"/>
            <a:ext cx="47640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Aptos"/>
              </a:defRPr>
            </a:pPr>
            <a:r>
              <a:t>Employment status</a:t>
            </a:r>
          </a:p>
        </p:txBody>
      </p:sp>
      <p:pic>
        <p:nvPicPr>
          <p:cNvPr id="11" name="Picture 10" descr="employment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99032"/>
            <a:ext cx="4764024" cy="40965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897880" y="987552"/>
            <a:ext cx="5806440" cy="4645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9048" y="1097280"/>
            <a:ext cx="54041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Aptos"/>
              </a:defRPr>
            </a:pPr>
            <a:r>
              <a:t>Occupation distribution</a:t>
            </a:r>
          </a:p>
        </p:txBody>
      </p:sp>
      <p:pic>
        <p:nvPicPr>
          <p:cNvPr id="14" name="Picture 13" descr="occupatio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399032"/>
            <a:ext cx="5404103" cy="409651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85800" y="5715000"/>
            <a:ext cx="10835640" cy="5029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833872"/>
            <a:ext cx="10378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Aptos"/>
              </a:defRPr>
            </a:pPr>
            <a:r>
              <a:t>Insight: Employed is the largest employment group (2,583 records). Private is the most common occupation in the sample (1,085 records).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36576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Household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19202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BD5E1"/>
                </a:solidFill>
                <a:latin typeface="Aptos"/>
              </a:defRPr>
            </a:pPr>
            <a:r>
              <a:t>Family size and demographic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Aptos"/>
              </a:defRPr>
            </a:pPr>
            <a:r>
              <a:t>Source: powerbi_india_demographics_sample.csv | Sample analysis for 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87552"/>
            <a:ext cx="5532120" cy="4645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097280"/>
            <a:ext cx="51297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Aptos"/>
              </a:defRPr>
            </a:pPr>
            <a:r>
              <a:t>Household size distribution</a:t>
            </a:r>
          </a:p>
        </p:txBody>
      </p:sp>
      <p:pic>
        <p:nvPicPr>
          <p:cNvPr id="11" name="Picture 10" descr="household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99032"/>
            <a:ext cx="5129783" cy="40965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09360" y="987552"/>
            <a:ext cx="5394960" cy="4645152"/>
          </a:xfrm>
          <a:prstGeom prst="roundRect">
            <a:avLst/>
          </a:prstGeom>
          <a:solidFill>
            <a:srgbClr val="08142B"/>
          </a:solidFill>
          <a:ln w="1016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1325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Household Signals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920240"/>
            <a:ext cx="21488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9400" y="1920240"/>
            <a:ext cx="73152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2048256"/>
            <a:ext cx="1892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t>AVERAGE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304288"/>
            <a:ext cx="1892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ptos"/>
              </a:defRPr>
            </a:pPr>
            <a:r>
              <a:t>4.49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724912"/>
            <a:ext cx="1892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members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920240"/>
            <a:ext cx="21488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98280" y="1920240"/>
            <a:ext cx="73152" cy="960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59" y="2048256"/>
            <a:ext cx="1892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t>MAX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2304288"/>
            <a:ext cx="1892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2724912"/>
            <a:ext cx="1892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members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3154680"/>
            <a:ext cx="21488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29400" y="3154680"/>
            <a:ext cx="73152" cy="9601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3282696"/>
            <a:ext cx="1892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t>MIN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538728"/>
            <a:ext cx="1892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959352"/>
            <a:ext cx="1892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member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3154680"/>
            <a:ext cx="21488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98280" y="3154680"/>
            <a:ext cx="73152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81159" y="3282696"/>
            <a:ext cx="1892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t>MEDIAN SIZE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59" y="3538728"/>
            <a:ext cx="1892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59" y="3959352"/>
            <a:ext cx="1892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members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572000"/>
            <a:ext cx="4617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Household size is useful for comparing income, access, and demographic dependency patterns in future Power BI dashboards.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36576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Key Insights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19202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BD5E1"/>
                </a:solidFill>
                <a:latin typeface="Aptos"/>
              </a:defRPr>
            </a:pPr>
            <a:r>
              <a:t>What to highlight 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Aptos"/>
              </a:defRPr>
            </a:pPr>
            <a:r>
              <a:t>Source: powerbi_india_demographics_sample.csv | Sample analysis for 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05840"/>
            <a:ext cx="5486400" cy="5166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325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4754880" cy="348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rPr lang="en-US" dirty="0" smtClean="0"/>
              <a:t>Punjab </a:t>
            </a:r>
            <a:r>
              <a:rPr lang="en-US" dirty="0"/>
              <a:t>has the highest number of records (1,044), while Rajasthan has the lowest (943), indicating differences in the dataset's population distribution across states.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rPr lang="en-US" dirty="0"/>
              <a:t>Gujarat has the highest average annual income (≈ ₹5.10 lakh), whereas Punjab has the lowest (≈ ₹4.91 lakh), showing income variation between states.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rPr lang="en-US" dirty="0"/>
              <a:t>The gender distribution is almost balanced, with 5,058 males and 4,942 females, indicating an evenly represented dataset.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rPr lang="en-US" dirty="0"/>
              <a:t>Higher Secondary education is the most common education level, followed closely by Secondary and Graduate, showing that most individuals have at least a secondary-level education.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34155"/>
                </a:solidFill>
                <a:latin typeface="Aptos"/>
              </a:defRPr>
            </a:pPr>
            <a:endParaRPr lang="en-US" dirty="0"/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34155"/>
                </a:solidFill>
                <a:latin typeface="Aptos"/>
              </a:defRPr>
            </a:pP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309360" y="1005840"/>
            <a:ext cx="5349240" cy="5166360"/>
          </a:xfrm>
          <a:prstGeom prst="roundRect">
            <a:avLst/>
          </a:prstGeom>
          <a:solidFill>
            <a:srgbClr val="08142B"/>
          </a:solidFill>
          <a:ln w="1016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426" y="1756918"/>
            <a:ext cx="2997200" cy="3746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2880" y="0"/>
            <a:ext cx="12191695" cy="6858000"/>
          </a:xfrm>
          <a:prstGeom prst="rect">
            <a:avLst/>
          </a:prstGeom>
          <a:solidFill>
            <a:srgbClr val="0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82880" y="6172200"/>
            <a:ext cx="50292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6172200"/>
            <a:ext cx="5029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45920" y="6172200"/>
            <a:ext cx="50292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0" y="6172200"/>
            <a:ext cx="5029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0" y="6172200"/>
            <a:ext cx="50292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6172200"/>
            <a:ext cx="5029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0" y="6172200"/>
            <a:ext cx="50292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6172200"/>
            <a:ext cx="5029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0" y="6172200"/>
            <a:ext cx="50292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6172200"/>
            <a:ext cx="5029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61120" y="6172200"/>
            <a:ext cx="50292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875520" y="6172200"/>
            <a:ext cx="5029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89920" y="6172200"/>
            <a:ext cx="50292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704320" y="6172200"/>
            <a:ext cx="5029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731520"/>
            <a:ext cx="1645920" cy="164592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0" y="548640"/>
            <a:ext cx="1463040" cy="1463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961120" y="4846320"/>
            <a:ext cx="2194560" cy="21945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13258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1214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F3D0"/>
                </a:solidFill>
                <a:latin typeface="Aptos"/>
              </a:defRPr>
            </a:pPr>
            <a:r>
              <a:t>India Demographics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770632"/>
            <a:ext cx="6766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Aptos"/>
              </a:defRPr>
            </a:pPr>
            <a:r>
              <a:rPr dirty="0"/>
              <a:t>The dataset has been transformed into a professional presentation with executive KPIs, charts, insights, and recommendations suitable for academic submission or Power BI project explanation.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47395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ptos"/>
              </a:defRPr>
            </a:pPr>
            <a:r>
              <a:t>Source: powerbi_india_demographics_sample.csv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538</Words>
  <Application>Microsoft Office PowerPoint</Application>
  <PresentationFormat>Widescreen</PresentationFormat>
  <Paragraphs>103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Demographics Analysis</dc:title>
  <dc:subject>Professional presentation based on demographic dataset</dc:subject>
  <dc:creator>OpenAI</dc:creator>
  <cp:keywords>India, Demographics, Power BI, Dataset, Analysis</cp:keywords>
  <dc:description>generated using python-pptx</dc:description>
  <cp:lastModifiedBy>cgc</cp:lastModifiedBy>
  <cp:revision>2</cp:revision>
  <dcterms:created xsi:type="dcterms:W3CDTF">2013-01-27T09:14:16Z</dcterms:created>
  <dcterms:modified xsi:type="dcterms:W3CDTF">2026-07-03T02:59:53Z</dcterms:modified>
  <cp:category/>
</cp:coreProperties>
</file>